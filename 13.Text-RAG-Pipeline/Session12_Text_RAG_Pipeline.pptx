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E2D3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1 2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Text-RAG Pipeline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First Retrieval-Augmented Generation System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Module 4: Retrieval-Augmented Generation &amp; Multimodal Systems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Sessions 10 &amp; 11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Takeaway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→ Dense 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Semantic similarity in vector space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 Vector DBs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Store &amp; retrieve vectors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similarity search at scale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926080"/>
            <a:ext cx="8046720" cy="548640"/>
          </a:xfrm>
          <a:prstGeom prst="roundRect">
            <a:avLst>
              <a:gd name="adj" fmla="val 8333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9718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12 brings them together: Chunk → Embed → Store → Retrieve → Generate. The full RAG pipeline.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+ Vector Databases → Full RAG System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Agenda (3 Hours)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13232" y="1188720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188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188720" y="114300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Documents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38988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loaders &amp; Document objects with metadata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1847088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1847088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" y="1938528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19385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18928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88720" y="213969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 vs Recursive. Size matters: 512 tokens is standard.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2596896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2596896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2688336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26883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264261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Chain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88720" y="288950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→ Format Docs → Prompt → LLM → Parse. The full flow.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48640" y="3346704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548640" y="3346704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Shape 21"/>
          <p:cNvSpPr/>
          <p:nvPr/>
        </p:nvSpPr>
        <p:spPr>
          <a:xfrm>
            <a:off x="713232" y="3438144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343814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1188720" y="33924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Pattern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88720" y="363931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query → Route to retrieval or direct LLM. Save costs.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548640" y="4096512"/>
            <a:ext cx="8046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548640" y="4096512"/>
            <a:ext cx="54864" cy="6400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Shape 27"/>
          <p:cNvSpPr/>
          <p:nvPr/>
        </p:nvSpPr>
        <p:spPr>
          <a:xfrm>
            <a:off x="713232" y="4187952"/>
            <a:ext cx="320040" cy="32004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/>
        </p:spPr>
      </p:sp>
      <p:sp>
        <p:nvSpPr>
          <p:cNvPr id="31" name="Text 28"/>
          <p:cNvSpPr/>
          <p:nvPr/>
        </p:nvSpPr>
        <p:spPr>
          <a:xfrm>
            <a:off x="713232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188720" y="414223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(Precision@k, F1@k)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1188720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 is your retrieval? Measure and optimize.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3-hour hands-on session covering the full Text-RAG pipeline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Hallucinate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Don't Know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= Retrieve relevant data first, then generate answers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Generation: The Solution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RAG Pipeline (Big Picture)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3716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691640" y="128016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182880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82880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128016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0" name="Shape 8"/>
          <p:cNvSpPr/>
          <p:nvPr/>
        </p:nvSpPr>
        <p:spPr>
          <a:xfrm>
            <a:off x="301752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069080" y="128016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420624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20624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128016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39496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128016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6583680" y="1188720"/>
            <a:ext cx="1005840" cy="45720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6583680" y="118872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2011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3152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(Setup)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3152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Load docs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Chunk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Embed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Store in vector DB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2011680"/>
            <a:ext cx="384048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937760" y="21488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(Query)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937760" y="251460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Embed query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 top-k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Generate answer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6-step process from raw documents to final answers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Loading Documents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Loaders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PDFLoader, TextLoader, DirectoryLoader, WebBaseLoader. Many options.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488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Object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doc = {page_content: text, metadata: {source, page_num, ...}}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Matters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source, page numbers, author. Useful for citations &amp; provenance.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raw documents with metadata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Why Chunk?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9728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3"/>
          <p:cNvSpPr/>
          <p:nvPr/>
        </p:nvSpPr>
        <p:spPr>
          <a:xfrm>
            <a:off x="777240" y="11887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too long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77240" y="150876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100-page PDF is one Document. Too much for similarity search.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548640" y="214884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14884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2402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needs precision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256032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the 3 most relevant sentences, not the whole book.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" y="3200400"/>
            <a:ext cx="80467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48640" y="3200400"/>
            <a:ext cx="54864" cy="9144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1"/>
          <p:cNvSpPr/>
          <p:nvPr/>
        </p:nvSpPr>
        <p:spPr>
          <a:xfrm>
            <a:off x="777240" y="32918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 limits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777240" y="3611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have finite context. 512-token chunks fit more in the prompt.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pieces enable better retrieval and fit context windows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 Strategies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9728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17043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Fixed-Size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17043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Simple, consistent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760720" y="11704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Breaks mid-sentence. Loses context.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0312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10312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1762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(Recommended)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21762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Splits on natural boundaries (\n, period). Better context.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760720" y="21762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Slightly complex. Worth it.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108960"/>
            <a:ext cx="80467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3108960"/>
            <a:ext cx="54864" cy="868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182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18211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Pro: Clusters by meaning. Most intelligent.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60720" y="318211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Con: Slower. Use for small docs.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chunking is the sweet spot for most use cases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Matters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97280"/>
          <a:ext cx="804672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645920"/>
                <a:gridCol w="1371600"/>
                <a:gridCol w="356616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Trade-off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256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 specific; fragmented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512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(RECOMMENDED)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1024 tokens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Very 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More context but less precise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474720"/>
            <a:ext cx="8046720" cy="731520"/>
          </a:xfrm>
          <a:prstGeom prst="roundRect">
            <a:avLst>
              <a:gd name="adj" fmla="val 6250"/>
            </a:avLst>
          </a:prstGeom>
          <a:solidFill>
            <a:srgbClr val="FEF3C7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352044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Practice: 512 tokens with 50-100 overlap. Overlap helps maintain context between chunks.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precision, recall, and computational efficiency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Embed &amp; Store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2344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from Session 11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77240" y="15544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vectorstore = Chroma.from_documents(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documents=chunks,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embedding=OpenAIEmbeddings()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Chunk → 1536-dim vector → stored in Chroma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28346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" y="29718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Point: This is done OFFLINE (during setup). You embed once, store once. At query time, you only embed the user's question.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enable semantic search in the vector space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The Retriever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2344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retriever = vectorstore.as_retriever(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search_type="similarity",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search_kwargs={"k": 3}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Similarity Search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3200400" y="265176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top-k chunks closest to query embedding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(Maximal Marginal Relevance)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0" y="338328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relevance AND diversity. Avoid redundant results.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Filtering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200400" y="4114800"/>
            <a:ext cx="5257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retrieve if similarity &gt; threshold. Reject low confidence.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Retriever outputs: top-k relevant chunks to pass to LLM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5: The RAG Chain (LCEL)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20116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234440"/>
            <a:ext cx="7589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rag_chain = (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{"context": retriever | format_docs,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"question": RunnablePassthrough()}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prompt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llm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| output_parser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3291840"/>
            <a:ext cx="8046720" cy="1554480"/>
          </a:xfrm>
          <a:prstGeom prst="roundRect">
            <a:avLst>
              <a:gd name="adj" fmla="val 2941"/>
            </a:avLst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429000"/>
            <a:ext cx="7589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LCEL = LangChain Expression Language. Pipe | chains operations. LLM sees retrieved context + question in prompt template.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chain: retrieval → formatting → prompt → LLM → output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 Action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7315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1887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Question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2286000" y="123444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is embedding?"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0116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Retrieve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2286000" y="205740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chunks matching embedding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743200"/>
            <a:ext cx="8046720" cy="73152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77240" y="2834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Prompt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2286000" y="288036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+ question into template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548640" y="3566160"/>
            <a:ext cx="8046720" cy="73152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38100" dist="12700" dir="8100000">
              <a:srgbClr val="000000">
                <a:alpha val="6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777240" y="365760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286000" y="3703320"/>
            <a:ext cx="6263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outputs: "Embedding is..."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flow from user query to generated answer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Router Pattern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solidFill>
            <a:srgbClr val="F1F5F9"/>
          </a:solidFill>
          <a:ln/>
          <a:effectLst>
            <a:outerShdw sx="100000" sy="100000" kx="0" ky="0" algn="bl" rotWithShape="0" blurRad="38100" dist="12700" dir="8100000">
              <a:srgbClr val="000000">
                <a:alpha val="4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18872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query needs retrieval. Some queries are general knowledge (e.g., "What's 2+2?"). Route intelligently to save cost &amp; latency.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645920" y="219456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164592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017520" y="2286000"/>
            <a:ext cx="73152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9" name="Shape 6"/>
          <p:cNvSpPr/>
          <p:nvPr/>
        </p:nvSpPr>
        <p:spPr>
          <a:xfrm>
            <a:off x="3840480" y="2194560"/>
            <a:ext cx="1280160" cy="457200"/>
          </a:xfrm>
          <a:prstGeom prst="roundRect">
            <a:avLst>
              <a:gd name="adj" fmla="val 8000"/>
            </a:avLst>
          </a:prstGeom>
          <a:solidFill>
            <a:srgbClr val="F59E0B"/>
          </a:solidFill>
          <a:ln/>
        </p:spPr>
      </p:sp>
      <p:sp>
        <p:nvSpPr>
          <p:cNvPr id="10" name="Text 7"/>
          <p:cNvSpPr/>
          <p:nvPr/>
        </p:nvSpPr>
        <p:spPr>
          <a:xfrm>
            <a:off x="3840480" y="21945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212080" y="2286000"/>
            <a:ext cx="73152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9"/>
          <p:cNvSpPr/>
          <p:nvPr/>
        </p:nvSpPr>
        <p:spPr>
          <a:xfrm>
            <a:off x="6035040" y="173736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0D9488"/>
          </a:solidFill>
          <a:ln/>
        </p:spPr>
      </p:sp>
      <p:sp>
        <p:nvSpPr>
          <p:cNvPr id="13" name="Text 10"/>
          <p:cNvSpPr/>
          <p:nvPr/>
        </p:nvSpPr>
        <p:spPr>
          <a:xfrm>
            <a:off x="6035040" y="173736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035040" y="2697480"/>
            <a:ext cx="1188720" cy="36576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/>
        </p:spPr>
      </p:sp>
      <p:sp>
        <p:nvSpPr>
          <p:cNvPr id="15" name="Text 12"/>
          <p:cNvSpPr/>
          <p:nvPr/>
        </p:nvSpPr>
        <p:spPr>
          <a:xfrm>
            <a:off x="6035040" y="26974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LLM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315200" y="2286000"/>
            <a:ext cx="640080" cy="274320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7" name="Shape 14"/>
          <p:cNvSpPr/>
          <p:nvPr/>
        </p:nvSpPr>
        <p:spPr>
          <a:xfrm>
            <a:off x="8046720" y="2194560"/>
            <a:ext cx="914400" cy="457200"/>
          </a:xfrm>
          <a:prstGeom prst="roundRect">
            <a:avLst>
              <a:gd name="adj" fmla="val 8000"/>
            </a:avLst>
          </a:pr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8046720" y="219456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routing reduces cost and improves response quality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7315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201168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Good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Your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Retrieval?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914400" y="3474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&amp; optimize with Precision@k &amp; F1@k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for retrieval quality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 &amp; Recall@k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685800"/>
            <a:ext cx="182880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09728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Precision@k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top-k results, how many are relevant?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P@k = (# relevant in top-k) / k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k=3 and 2 are relevant → P@3 = 2/3 = 66.7%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80467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28346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Recall@k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3154680"/>
            <a:ext cx="7589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relevant documents, how many did you retrieve?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R@k = (# relevant in top-k) / (total # relevant)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If there are 5 relevant docs total and you got 3 → R@3 = 3/5 = 60%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answers "of what you found, how much was right?" Recall answers "of what exists, how much did you find?"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F1@k: Harmonic Mean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234440"/>
            <a:ext cx="7589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Precision AND Recall: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F1@k = 2 × (Precision@k × Recall@k) / (Precision@k + Recall@k)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F1 = both precision and recall are good. You're finding relevant docs AND not returning garbage.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68880"/>
          <a:ext cx="80467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2011680"/>
                <a:gridCol w="201168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948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P, Low 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9731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4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penalizes imbalance. Aim for high F1@k on your evaluation set.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in Practice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97280"/>
            <a:ext cx="8046720" cy="182880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38100" dist="12700" dir="8100000">
              <a:srgbClr val="000000">
                <a:alpha val="5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777240" y="1234440"/>
            <a:ext cx="75895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Simple: Manual labeling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q, relevant_docs in eval_set: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retrieved = retriever.get_relevant(q)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precision = len(set(retrieved) &amp; set(relevant_docs)) / len(retrieved)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print(f"P@{k}: {precision}")</a:t>
            </a:r>
            <a:endParaRPr lang="en-US" sz="850" dirty="0"/>
          </a:p>
          <a:p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Production: Use Ragas framework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3108960"/>
            <a:ext cx="8046720" cy="146304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3246120"/>
            <a:ext cx="7589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Ragas: Framework for evaluating RAG systems. Metrics include context relevance, answer relevance, faithfulness. Automated with LLMs.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6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early and often. Test on holdout eval set.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Exercises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548640" y="100584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48640" y="1005840"/>
            <a:ext cx="54864" cy="1234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Shape 3"/>
          <p:cNvSpPr/>
          <p:nvPr/>
        </p:nvSpPr>
        <p:spPr>
          <a:xfrm>
            <a:off x="713232" y="109728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713232" y="109728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554480" y="107899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FAQ Bot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554480" y="1389888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FAQ docs → Chunk → Embed with Chroma → Build RAG chain. Test with sample questions. Log retrieved chunks.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23160"/>
            <a:ext cx="54864" cy="12344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Shape 9"/>
          <p:cNvSpPr/>
          <p:nvPr/>
        </p:nvSpPr>
        <p:spPr>
          <a:xfrm>
            <a:off x="713232" y="251460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251460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554480" y="249631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Size Experiments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554480" y="2807208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sizes 256, 512, 1024. Build retriever for each. Evaluate precision/recall on 10 sample questions. Plot results.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48640" y="3840480"/>
            <a:ext cx="804672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6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840480"/>
            <a:ext cx="54864" cy="1234440"/>
          </a:xfrm>
          <a:prstGeom prst="rect">
            <a:avLst/>
          </a:prstGeom>
          <a:solidFill>
            <a:srgbClr val="F97316"/>
          </a:solidFill>
          <a:ln/>
        </p:spPr>
      </p:sp>
      <p:sp>
        <p:nvSpPr>
          <p:cNvPr id="18" name="Shape 15"/>
          <p:cNvSpPr/>
          <p:nvPr/>
        </p:nvSpPr>
        <p:spPr>
          <a:xfrm>
            <a:off x="713232" y="3931920"/>
            <a:ext cx="685800" cy="27432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93192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3 (Bonus)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554480" y="3913632"/>
            <a:ext cx="6995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Router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554480" y="4224528"/>
            <a:ext cx="6995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queries as domain-specific or general. Route accordingly. Measure cost savings.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3" name="Text 20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learning: experiment with chunking, routing, and evaluation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74320"/>
            <a:ext cx="365760" cy="3657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515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97280" y="11430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solves hallucination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4480560" y="1143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relevant docs first, then generate. LLM grounds in truth.</a:t>
            </a:r>
            <a:endParaRPr lang="en-US" sz="10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96596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9728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wisely</a:t>
            </a:r>
            <a:endParaRPr lang="en-US" sz="1200" dirty="0"/>
          </a:p>
        </p:txBody>
      </p:sp>
      <p:sp>
        <p:nvSpPr>
          <p:cNvPr id="9" name="Text 4"/>
          <p:cNvSpPr/>
          <p:nvPr/>
        </p:nvSpPr>
        <p:spPr>
          <a:xfrm>
            <a:off x="4480560" y="187452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tokens + overlap is the sweet spot. Impacts retrieval quality directly.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697480"/>
            <a:ext cx="320040" cy="32004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97280" y="2606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intelligently</a:t>
            </a:r>
            <a:endParaRPr lang="en-US" sz="1200" dirty="0"/>
          </a:p>
        </p:txBody>
      </p:sp>
      <p:sp>
        <p:nvSpPr>
          <p:cNvPr id="12" name="Text 6"/>
          <p:cNvSpPr/>
          <p:nvPr/>
        </p:nvSpPr>
        <p:spPr>
          <a:xfrm>
            <a:off x="4480560" y="26060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all queries need retrieval. Save cost by routing to direct LLM when appropriate.</a:t>
            </a:r>
            <a:endParaRPr lang="en-US" sz="10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29000"/>
            <a:ext cx="320040" cy="32004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09728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quality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4480560" y="33375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Precision@k, Recall@k, F1@k. Evaluate on representative test set.</a:t>
            </a:r>
            <a:endParaRPr lang="en-US" sz="10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160520"/>
            <a:ext cx="320040" cy="32004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09728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200" dirty="0"/>
          </a:p>
        </p:txBody>
      </p:sp>
      <p:sp>
        <p:nvSpPr>
          <p:cNvPr id="18" name="Text 10"/>
          <p:cNvSpPr/>
          <p:nvPr/>
        </p:nvSpPr>
        <p:spPr>
          <a:xfrm>
            <a:off x="4480560" y="406908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Tweak chunk size, retriever strategy, prompt. Benchmark against baselines.</a:t>
            </a:r>
            <a:endParaRPr lang="en-US" sz="1000" dirty="0"/>
          </a:p>
        </p:txBody>
      </p:sp>
      <p:sp>
        <p:nvSpPr>
          <p:cNvPr id="19" name="Shape 1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2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principles for building production RAG systems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2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0" y="45720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7315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E S S I O N   1 3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4572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RAG: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+ Images + Video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RAG to handle images and video. Multimodal embeddings. Vision + language.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709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BIA® School of Technology &amp; AI  |  Module 4: Retrieval-Augmented Generation &amp; Multimodal Systems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12 — Text-RAG Pipeline</dc:title>
  <dc:subject>PptxGenJS Presentation</dc:subject>
  <dc:creator>Danny - BIA School of Technology &amp; AI</dc:creator>
  <cp:lastModifiedBy>Danny - BIA School of Technology &amp; AI</cp:lastModifiedBy>
  <cp:revision>1</cp:revision>
  <dcterms:created xsi:type="dcterms:W3CDTF">2026-04-17T20:44:36Z</dcterms:created>
  <dcterms:modified xsi:type="dcterms:W3CDTF">2026-04-17T20:44:36Z</dcterms:modified>
</cp:coreProperties>
</file>